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82" d="100"/>
          <a:sy n="82" d="100"/>
        </p:scale>
        <p:origin x="1142" y="-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3922948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-457200" y="3246120"/>
            <a:ext cx="4023360" cy="3749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 algn="l">
              <a:buNone/>
            </a:pPr>
            <a:r>
              <a:rPr lang="en-US" sz="23000" b="1" dirty="0">
                <a:solidFill>
                  <a:srgbClr val="F1F2F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23000" dirty="0"/>
          </a:p>
        </p:txBody>
      </p:sp>
      <p:sp>
        <p:nvSpPr>
          <p:cNvPr id="3" name="Text 1"/>
          <p:cNvSpPr/>
          <p:nvPr/>
        </p:nvSpPr>
        <p:spPr>
          <a:xfrm>
            <a:off x="9905695" y="292608"/>
            <a:ext cx="20116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b="1" dirty="0">
                <a:solidFill>
                  <a:srgbClr val="0F5C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Crowd</a:t>
            </a:r>
            <a:r>
              <a:rPr lang="en-US" b="1" dirty="0">
                <a:solidFill>
                  <a:srgbClr val="E8563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Heal</a:t>
            </a: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640080" y="31546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300" dirty="0">
                <a:solidFill>
                  <a:srgbClr val="B986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MEDICAL CROWDFUNDING PROTOTYPE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94360" y="2194560"/>
            <a:ext cx="96012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6000" b="1" dirty="0">
                <a:solidFill>
                  <a:srgbClr val="1E2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CrowdHeal</a:t>
            </a:r>
            <a:endParaRPr lang="en-US" sz="6000" dirty="0"/>
          </a:p>
        </p:txBody>
      </p:sp>
      <p:sp>
        <p:nvSpPr>
          <p:cNvPr id="6" name="Text 4"/>
          <p:cNvSpPr/>
          <p:nvPr/>
        </p:nvSpPr>
        <p:spPr>
          <a:xfrm>
            <a:off x="640080" y="3200400"/>
            <a:ext cx="8686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658368" y="3858768"/>
            <a:ext cx="1005840" cy="0"/>
          </a:xfrm>
          <a:prstGeom prst="line">
            <a:avLst/>
          </a:prstGeom>
          <a:noFill/>
          <a:ln w="31750">
            <a:solidFill>
              <a:srgbClr val="F0B42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4041648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medical crowdfunding prototype that helps families/individuals share treatment needs and lets supporters find campaigns to help.</a:t>
            </a:r>
            <a:endParaRPr lang="en-US" sz="1450" dirty="0"/>
          </a:p>
        </p:txBody>
      </p:sp>
      <p:sp>
        <p:nvSpPr>
          <p:cNvPr id="9" name="Shape 7"/>
          <p:cNvSpPr/>
          <p:nvPr/>
        </p:nvSpPr>
        <p:spPr>
          <a:xfrm>
            <a:off x="640080" y="5029200"/>
            <a:ext cx="1241755" cy="384048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2700">
            <a:solidFill>
              <a:srgbClr val="F0B42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5029200"/>
            <a:ext cx="1241755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B986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Fundraisers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2064715" y="5029200"/>
            <a:ext cx="793699" cy="384048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2700">
            <a:solidFill>
              <a:srgbClr val="F0B42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064715" y="5029200"/>
            <a:ext cx="793699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B986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Donors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3041294" y="5029200"/>
            <a:ext cx="1600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57200" y="6473952"/>
            <a:ext cx="11277295" cy="0"/>
          </a:xfrm>
          <a:prstGeom prst="line">
            <a:avLst/>
          </a:prstGeom>
          <a:noFill/>
          <a:ln w="9525">
            <a:solidFill>
              <a:srgbClr val="DCE1E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7200" y="6528816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CrowdHeal — medical crowdfunding prototype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10728655" y="6528816"/>
            <a:ext cx="1005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/ 10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-457200" y="3246120"/>
            <a:ext cx="4023360" cy="3749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 algn="l">
              <a:buNone/>
            </a:pPr>
            <a:r>
              <a:rPr lang="en-US" sz="23000" b="1" dirty="0">
                <a:solidFill>
                  <a:srgbClr val="F1F2F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23000" dirty="0"/>
          </a:p>
        </p:txBody>
      </p:sp>
      <p:sp>
        <p:nvSpPr>
          <p:cNvPr id="3" name="Text 1"/>
          <p:cNvSpPr/>
          <p:nvPr/>
        </p:nvSpPr>
        <p:spPr>
          <a:xfrm>
            <a:off x="9905695" y="292608"/>
            <a:ext cx="20116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b="1" dirty="0">
                <a:solidFill>
                  <a:srgbClr val="0F5C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Crowd</a:t>
            </a:r>
            <a:r>
              <a:rPr lang="en-US" b="1" dirty="0">
                <a:solidFill>
                  <a:srgbClr val="E8563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Heal</a:t>
            </a: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B986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CROWDHEAL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658368"/>
            <a:ext cx="8778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2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idea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94360" y="1737360"/>
            <a:ext cx="548640" cy="548640"/>
          </a:xfrm>
          <a:prstGeom prst="ellipse">
            <a:avLst/>
          </a:prstGeom>
          <a:solidFill>
            <a:srgbClr val="FBE7B4"/>
          </a:solidFill>
          <a:ln/>
        </p:spPr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" y="1811426"/>
            <a:ext cx="400507" cy="400507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1691640"/>
            <a:ext cx="53035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1E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Medical treatment can create urgent costs for families.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594360" y="2971800"/>
            <a:ext cx="548640" cy="548640"/>
          </a:xfrm>
          <a:prstGeom prst="ellipse">
            <a:avLst/>
          </a:prstGeom>
          <a:solidFill>
            <a:srgbClr val="FBE7B4"/>
          </a:solidFill>
          <a:ln/>
        </p:spPr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8426" y="3045866"/>
            <a:ext cx="400507" cy="400507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371600" y="2926080"/>
            <a:ext cx="53035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1E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Families who cannot afford such huge medical expenses need a simple way to explain what care is needed and how much it may cost.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7223760" y="1600200"/>
            <a:ext cx="4343400" cy="3977640"/>
          </a:xfrm>
          <a:prstGeom prst="roundRect">
            <a:avLst>
              <a:gd name="adj" fmla="val 1839"/>
            </a:avLst>
          </a:prstGeom>
          <a:solidFill>
            <a:srgbClr val="F0B429"/>
          </a:solidFill>
          <a:ln/>
        </p:spPr>
      </p:sp>
      <p:sp>
        <p:nvSpPr>
          <p:cNvPr id="13" name="Text 9"/>
          <p:cNvSpPr/>
          <p:nvPr/>
        </p:nvSpPr>
        <p:spPr>
          <a:xfrm>
            <a:off x="7543800" y="18745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kern="0" spc="200" dirty="0">
                <a:solidFill>
                  <a:srgbClr val="1E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IDEA</a:t>
            </a:r>
            <a:endParaRPr lang="en-US" sz="1150" dirty="0"/>
          </a:p>
        </p:txBody>
      </p:sp>
      <p:sp>
        <p:nvSpPr>
          <p:cNvPr id="14" name="Text 10"/>
          <p:cNvSpPr/>
          <p:nvPr/>
        </p:nvSpPr>
        <p:spPr>
          <a:xfrm>
            <a:off x="7543800" y="2194560"/>
            <a:ext cx="370332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900" b="1" dirty="0">
                <a:solidFill>
                  <a:srgbClr val="1E2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CrowdHeal connects those families with people willing to contribute or share their campaign.</a:t>
            </a:r>
            <a:endParaRPr lang="en-US" sz="1900" dirty="0"/>
          </a:p>
        </p:txBody>
      </p:sp>
      <p:sp>
        <p:nvSpPr>
          <p:cNvPr id="15" name="Shape 11"/>
          <p:cNvSpPr/>
          <p:nvPr/>
        </p:nvSpPr>
        <p:spPr>
          <a:xfrm>
            <a:off x="7562088" y="4160520"/>
            <a:ext cx="640080" cy="0"/>
          </a:xfrm>
          <a:prstGeom prst="line">
            <a:avLst/>
          </a:prstGeom>
          <a:noFill/>
          <a:ln w="25400">
            <a:solidFill>
              <a:srgbClr val="1E2A44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7543800" y="4343400"/>
            <a:ext cx="3657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250" i="1" dirty="0">
                <a:solidFill>
                  <a:srgbClr val="5A47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shared story becomes shared support.</a:t>
            </a:r>
            <a:endParaRPr lang="en-US" sz="1250" dirty="0"/>
          </a:p>
        </p:txBody>
      </p:sp>
      <p:sp>
        <p:nvSpPr>
          <p:cNvPr id="17" name="Shape 13"/>
          <p:cNvSpPr/>
          <p:nvPr/>
        </p:nvSpPr>
        <p:spPr>
          <a:xfrm>
            <a:off x="457200" y="6473952"/>
            <a:ext cx="11277295" cy="0"/>
          </a:xfrm>
          <a:prstGeom prst="line">
            <a:avLst/>
          </a:prstGeom>
          <a:noFill/>
          <a:ln w="9525">
            <a:solidFill>
              <a:srgbClr val="DCE1E8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457200" y="6528816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CrowdHeal — medical crowdfunding prototype</a:t>
            </a:r>
            <a:endParaRPr lang="en-US" sz="900" dirty="0"/>
          </a:p>
        </p:txBody>
      </p:sp>
      <p:sp>
        <p:nvSpPr>
          <p:cNvPr id="19" name="Text 15"/>
          <p:cNvSpPr/>
          <p:nvPr/>
        </p:nvSpPr>
        <p:spPr>
          <a:xfrm>
            <a:off x="10728655" y="6528816"/>
            <a:ext cx="1005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/ 10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-457200" y="3392424"/>
            <a:ext cx="4023360" cy="3749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 algn="l">
              <a:buNone/>
            </a:pPr>
            <a:r>
              <a:rPr lang="en-US" sz="23000" b="1" dirty="0">
                <a:solidFill>
                  <a:srgbClr val="F1F2F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23000" dirty="0"/>
          </a:p>
        </p:txBody>
      </p:sp>
      <p:sp>
        <p:nvSpPr>
          <p:cNvPr id="3" name="Text 1"/>
          <p:cNvSpPr/>
          <p:nvPr/>
        </p:nvSpPr>
        <p:spPr>
          <a:xfrm>
            <a:off x="9905695" y="292608"/>
            <a:ext cx="20116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b="1" dirty="0">
                <a:solidFill>
                  <a:srgbClr val="0F5C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Crowd</a:t>
            </a:r>
            <a:r>
              <a:rPr lang="en-US" b="1" dirty="0">
                <a:solidFill>
                  <a:srgbClr val="E8563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Heal</a:t>
            </a: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B986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UX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658368"/>
            <a:ext cx="8778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2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main user journeys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48640" y="1783080"/>
            <a:ext cx="1965960" cy="457200"/>
          </a:xfrm>
          <a:prstGeom prst="roundRect">
            <a:avLst>
              <a:gd name="adj" fmla="val 12000"/>
            </a:avLst>
          </a:prstGeom>
          <a:solidFill>
            <a:srgbClr val="F0B429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1773936"/>
            <a:ext cx="1965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E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FUNDRAISERS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12648" y="2139696"/>
            <a:ext cx="310896" cy="310896"/>
          </a:xfrm>
          <a:prstGeom prst="ellipse">
            <a:avLst/>
          </a:prstGeom>
          <a:solidFill>
            <a:srgbClr val="F0B429"/>
          </a:solidFill>
          <a:ln/>
        </p:spPr>
      </p:sp>
      <p:sp>
        <p:nvSpPr>
          <p:cNvPr id="9" name="Text 7"/>
          <p:cNvSpPr/>
          <p:nvPr/>
        </p:nvSpPr>
        <p:spPr>
          <a:xfrm>
            <a:off x="612648" y="2139696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12648" y="2423160"/>
            <a:ext cx="2354580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12700">
            <a:solidFill>
              <a:srgbClr val="DCE1E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21792" y="2569464"/>
            <a:ext cx="2208276" cy="66751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E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an account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2921508" y="2747772"/>
            <a:ext cx="237744" cy="310896"/>
          </a:xfrm>
          <a:prstGeom prst="chevron">
            <a:avLst/>
          </a:prstGeom>
          <a:solidFill>
            <a:srgbClr val="F0B429"/>
          </a:solidFill>
          <a:ln/>
        </p:spPr>
      </p:sp>
      <p:sp>
        <p:nvSpPr>
          <p:cNvPr id="13" name="Shape 11"/>
          <p:cNvSpPr/>
          <p:nvPr/>
        </p:nvSpPr>
        <p:spPr>
          <a:xfrm>
            <a:off x="3515868" y="2139696"/>
            <a:ext cx="310896" cy="310896"/>
          </a:xfrm>
          <a:prstGeom prst="ellipse">
            <a:avLst/>
          </a:prstGeom>
          <a:solidFill>
            <a:srgbClr val="F0B429"/>
          </a:solidFill>
          <a:ln/>
        </p:spPr>
      </p:sp>
      <p:sp>
        <p:nvSpPr>
          <p:cNvPr id="14" name="Text 12"/>
          <p:cNvSpPr/>
          <p:nvPr/>
        </p:nvSpPr>
        <p:spPr>
          <a:xfrm>
            <a:off x="3515868" y="2139696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3451860" y="2514600"/>
            <a:ext cx="2354580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12700">
            <a:solidFill>
              <a:srgbClr val="DCE1E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525012" y="2569464"/>
            <a:ext cx="2208276" cy="66751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E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 a campaign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5824728" y="2747772"/>
            <a:ext cx="237744" cy="310896"/>
          </a:xfrm>
          <a:prstGeom prst="chevron">
            <a:avLst/>
          </a:prstGeom>
          <a:solidFill>
            <a:srgbClr val="F0B429"/>
          </a:solidFill>
          <a:ln/>
        </p:spPr>
      </p:sp>
      <p:sp>
        <p:nvSpPr>
          <p:cNvPr id="18" name="Shape 16"/>
          <p:cNvSpPr/>
          <p:nvPr/>
        </p:nvSpPr>
        <p:spPr>
          <a:xfrm>
            <a:off x="6419088" y="2139696"/>
            <a:ext cx="310896" cy="310896"/>
          </a:xfrm>
          <a:prstGeom prst="ellipse">
            <a:avLst/>
          </a:prstGeom>
          <a:solidFill>
            <a:srgbClr val="F0B429"/>
          </a:solidFill>
          <a:ln/>
        </p:spPr>
      </p:sp>
      <p:sp>
        <p:nvSpPr>
          <p:cNvPr id="19" name="Text 17"/>
          <p:cNvSpPr/>
          <p:nvPr/>
        </p:nvSpPr>
        <p:spPr>
          <a:xfrm>
            <a:off x="6419088" y="2139696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6355080" y="2514600"/>
            <a:ext cx="2354580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12700">
            <a:solidFill>
              <a:srgbClr val="DCE1E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28232" y="2569464"/>
            <a:ext cx="2208276" cy="66751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E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its progress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8727948" y="2747772"/>
            <a:ext cx="237744" cy="310896"/>
          </a:xfrm>
          <a:prstGeom prst="chevron">
            <a:avLst/>
          </a:prstGeom>
          <a:solidFill>
            <a:srgbClr val="F0B429"/>
          </a:solidFill>
          <a:ln/>
        </p:spPr>
      </p:sp>
      <p:sp>
        <p:nvSpPr>
          <p:cNvPr id="23" name="Shape 21"/>
          <p:cNvSpPr/>
          <p:nvPr/>
        </p:nvSpPr>
        <p:spPr>
          <a:xfrm>
            <a:off x="9322308" y="2139696"/>
            <a:ext cx="310896" cy="310896"/>
          </a:xfrm>
          <a:prstGeom prst="ellipse">
            <a:avLst/>
          </a:prstGeom>
          <a:solidFill>
            <a:srgbClr val="F0B429"/>
          </a:solidFill>
          <a:ln/>
        </p:spPr>
      </p:sp>
      <p:sp>
        <p:nvSpPr>
          <p:cNvPr id="24" name="Text 22"/>
          <p:cNvSpPr/>
          <p:nvPr/>
        </p:nvSpPr>
        <p:spPr>
          <a:xfrm>
            <a:off x="9322308" y="2139696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9258300" y="2514600"/>
            <a:ext cx="2354580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12700">
            <a:solidFill>
              <a:srgbClr val="DCE1E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331452" y="2569464"/>
            <a:ext cx="2208276" cy="66751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E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 or remove it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548640" y="4160520"/>
            <a:ext cx="1965960" cy="457200"/>
          </a:xfrm>
          <a:prstGeom prst="roundRect">
            <a:avLst>
              <a:gd name="adj" fmla="val 12000"/>
            </a:avLst>
          </a:prstGeom>
          <a:solidFill>
            <a:srgbClr val="1E2A44"/>
          </a:solidFill>
          <a:ln/>
        </p:spPr>
      </p:sp>
      <p:sp>
        <p:nvSpPr>
          <p:cNvPr id="28" name="Text 26"/>
          <p:cNvSpPr/>
          <p:nvPr/>
        </p:nvSpPr>
        <p:spPr>
          <a:xfrm>
            <a:off x="548640" y="4160520"/>
            <a:ext cx="1965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0B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DONORS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612648" y="4517136"/>
            <a:ext cx="310896" cy="310896"/>
          </a:xfrm>
          <a:prstGeom prst="ellipse">
            <a:avLst/>
          </a:prstGeom>
          <a:solidFill>
            <a:srgbClr val="1E2A44"/>
          </a:solidFill>
          <a:ln/>
        </p:spPr>
      </p:sp>
      <p:sp>
        <p:nvSpPr>
          <p:cNvPr id="30" name="Text 28"/>
          <p:cNvSpPr/>
          <p:nvPr/>
        </p:nvSpPr>
        <p:spPr>
          <a:xfrm>
            <a:off x="612648" y="4517136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0B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548640" y="4892040"/>
            <a:ext cx="1773936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12700">
            <a:solidFill>
              <a:srgbClr val="DCE1E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21792" y="4946904"/>
            <a:ext cx="1627632" cy="66751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E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Browse campaigns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2340864" y="5125212"/>
            <a:ext cx="237744" cy="310896"/>
          </a:xfrm>
          <a:prstGeom prst="chevron">
            <a:avLst/>
          </a:prstGeom>
          <a:solidFill>
            <a:srgbClr val="F0B429"/>
          </a:solidFill>
          <a:ln/>
        </p:spPr>
      </p:sp>
      <p:sp>
        <p:nvSpPr>
          <p:cNvPr id="34" name="Shape 32"/>
          <p:cNvSpPr/>
          <p:nvPr/>
        </p:nvSpPr>
        <p:spPr>
          <a:xfrm>
            <a:off x="2935224" y="4517136"/>
            <a:ext cx="310896" cy="310896"/>
          </a:xfrm>
          <a:prstGeom prst="ellipse">
            <a:avLst/>
          </a:prstGeom>
          <a:solidFill>
            <a:srgbClr val="1E2A44"/>
          </a:solidFill>
          <a:ln/>
        </p:spPr>
      </p:sp>
      <p:sp>
        <p:nvSpPr>
          <p:cNvPr id="35" name="Text 33"/>
          <p:cNvSpPr/>
          <p:nvPr/>
        </p:nvSpPr>
        <p:spPr>
          <a:xfrm>
            <a:off x="2935224" y="4517136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0B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2871216" y="4892040"/>
            <a:ext cx="1773936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12700">
            <a:solidFill>
              <a:srgbClr val="DCE1E8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944368" y="4946904"/>
            <a:ext cx="1627632" cy="66751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E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a cause</a:t>
            </a:r>
            <a:endParaRPr lang="en-US" sz="1150" dirty="0"/>
          </a:p>
        </p:txBody>
      </p:sp>
      <p:sp>
        <p:nvSpPr>
          <p:cNvPr id="38" name="Shape 36"/>
          <p:cNvSpPr/>
          <p:nvPr/>
        </p:nvSpPr>
        <p:spPr>
          <a:xfrm>
            <a:off x="4663440" y="5125212"/>
            <a:ext cx="237744" cy="310896"/>
          </a:xfrm>
          <a:prstGeom prst="chevron">
            <a:avLst/>
          </a:prstGeom>
          <a:solidFill>
            <a:srgbClr val="F0B429"/>
          </a:solidFill>
          <a:ln/>
        </p:spPr>
      </p:sp>
      <p:sp>
        <p:nvSpPr>
          <p:cNvPr id="39" name="Shape 37"/>
          <p:cNvSpPr/>
          <p:nvPr/>
        </p:nvSpPr>
        <p:spPr>
          <a:xfrm>
            <a:off x="5257800" y="4517136"/>
            <a:ext cx="310896" cy="310896"/>
          </a:xfrm>
          <a:prstGeom prst="ellipse">
            <a:avLst/>
          </a:prstGeom>
          <a:solidFill>
            <a:srgbClr val="1E2A44"/>
          </a:solidFill>
          <a:ln/>
        </p:spPr>
      </p:sp>
      <p:sp>
        <p:nvSpPr>
          <p:cNvPr id="40" name="Text 38"/>
          <p:cNvSpPr/>
          <p:nvPr/>
        </p:nvSpPr>
        <p:spPr>
          <a:xfrm>
            <a:off x="5257800" y="4517136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0B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5193792" y="4892040"/>
            <a:ext cx="1773936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12700">
            <a:solidFill>
              <a:srgbClr val="DCE1E8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266944" y="4946904"/>
            <a:ext cx="1627632" cy="66751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E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its details</a:t>
            </a:r>
            <a:endParaRPr lang="en-US" sz="1150" dirty="0"/>
          </a:p>
        </p:txBody>
      </p:sp>
      <p:sp>
        <p:nvSpPr>
          <p:cNvPr id="43" name="Shape 41"/>
          <p:cNvSpPr/>
          <p:nvPr/>
        </p:nvSpPr>
        <p:spPr>
          <a:xfrm>
            <a:off x="6986016" y="5125212"/>
            <a:ext cx="237744" cy="310896"/>
          </a:xfrm>
          <a:prstGeom prst="chevron">
            <a:avLst/>
          </a:prstGeom>
          <a:solidFill>
            <a:srgbClr val="F0B429"/>
          </a:solidFill>
          <a:ln/>
        </p:spPr>
      </p:sp>
      <p:sp>
        <p:nvSpPr>
          <p:cNvPr id="44" name="Shape 42"/>
          <p:cNvSpPr/>
          <p:nvPr/>
        </p:nvSpPr>
        <p:spPr>
          <a:xfrm>
            <a:off x="7580376" y="4517136"/>
            <a:ext cx="310896" cy="310896"/>
          </a:xfrm>
          <a:prstGeom prst="ellipse">
            <a:avLst/>
          </a:prstGeom>
          <a:solidFill>
            <a:srgbClr val="1E2A44"/>
          </a:solidFill>
          <a:ln/>
        </p:spPr>
      </p:sp>
      <p:sp>
        <p:nvSpPr>
          <p:cNvPr id="45" name="Text 43"/>
          <p:cNvSpPr/>
          <p:nvPr/>
        </p:nvSpPr>
        <p:spPr>
          <a:xfrm>
            <a:off x="7580376" y="4517136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0B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46" name="Shape 44"/>
          <p:cNvSpPr/>
          <p:nvPr/>
        </p:nvSpPr>
        <p:spPr>
          <a:xfrm>
            <a:off x="7516368" y="4892040"/>
            <a:ext cx="1773936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12700">
            <a:solidFill>
              <a:srgbClr val="DCE1E8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589520" y="4946904"/>
            <a:ext cx="1627632" cy="66751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E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 a donation</a:t>
            </a:r>
            <a:endParaRPr lang="en-US" sz="1150" dirty="0"/>
          </a:p>
        </p:txBody>
      </p:sp>
      <p:sp>
        <p:nvSpPr>
          <p:cNvPr id="48" name="Shape 46"/>
          <p:cNvSpPr/>
          <p:nvPr/>
        </p:nvSpPr>
        <p:spPr>
          <a:xfrm>
            <a:off x="9308592" y="5125212"/>
            <a:ext cx="237744" cy="310896"/>
          </a:xfrm>
          <a:prstGeom prst="chevron">
            <a:avLst/>
          </a:prstGeom>
          <a:solidFill>
            <a:srgbClr val="F0B429"/>
          </a:solidFill>
          <a:ln/>
        </p:spPr>
      </p:sp>
      <p:sp>
        <p:nvSpPr>
          <p:cNvPr id="49" name="Shape 47"/>
          <p:cNvSpPr/>
          <p:nvPr/>
        </p:nvSpPr>
        <p:spPr>
          <a:xfrm>
            <a:off x="9902952" y="4517136"/>
            <a:ext cx="310896" cy="310896"/>
          </a:xfrm>
          <a:prstGeom prst="ellipse">
            <a:avLst/>
          </a:prstGeom>
          <a:solidFill>
            <a:srgbClr val="1E2A44"/>
          </a:solidFill>
          <a:ln/>
        </p:spPr>
      </p:sp>
      <p:sp>
        <p:nvSpPr>
          <p:cNvPr id="50" name="Text 48"/>
          <p:cNvSpPr/>
          <p:nvPr/>
        </p:nvSpPr>
        <p:spPr>
          <a:xfrm>
            <a:off x="9902952" y="4517136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0B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51" name="Shape 49"/>
          <p:cNvSpPr/>
          <p:nvPr/>
        </p:nvSpPr>
        <p:spPr>
          <a:xfrm>
            <a:off x="9838944" y="4892040"/>
            <a:ext cx="1773936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12700">
            <a:solidFill>
              <a:srgbClr val="DCE1E8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9912096" y="4946904"/>
            <a:ext cx="1627632" cy="66751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E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the campaign</a:t>
            </a:r>
            <a:endParaRPr lang="en-US" sz="1150" dirty="0"/>
          </a:p>
        </p:txBody>
      </p:sp>
      <p:sp>
        <p:nvSpPr>
          <p:cNvPr id="53" name="Shape 51"/>
          <p:cNvSpPr/>
          <p:nvPr/>
        </p:nvSpPr>
        <p:spPr>
          <a:xfrm>
            <a:off x="457200" y="6473952"/>
            <a:ext cx="11277295" cy="0"/>
          </a:xfrm>
          <a:prstGeom prst="line">
            <a:avLst/>
          </a:prstGeom>
          <a:noFill/>
          <a:ln w="9525">
            <a:solidFill>
              <a:srgbClr val="DCE1E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57200" y="6528816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CrowdHeal — medical crowdfunding prototype</a:t>
            </a:r>
            <a:endParaRPr lang="en-US" sz="900" dirty="0"/>
          </a:p>
        </p:txBody>
      </p:sp>
      <p:sp>
        <p:nvSpPr>
          <p:cNvPr id="55" name="Text 53"/>
          <p:cNvSpPr/>
          <p:nvPr/>
        </p:nvSpPr>
        <p:spPr>
          <a:xfrm>
            <a:off x="10728655" y="6528816"/>
            <a:ext cx="1005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/ 10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-457200" y="3246120"/>
            <a:ext cx="4023360" cy="3749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 algn="l">
              <a:buNone/>
            </a:pPr>
            <a:r>
              <a:rPr lang="en-US" sz="23000" b="1" dirty="0">
                <a:solidFill>
                  <a:srgbClr val="F1F2F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23000" dirty="0"/>
          </a:p>
        </p:txBody>
      </p:sp>
      <p:sp>
        <p:nvSpPr>
          <p:cNvPr id="3" name="Text 1"/>
          <p:cNvSpPr/>
          <p:nvPr/>
        </p:nvSpPr>
        <p:spPr>
          <a:xfrm>
            <a:off x="9905695" y="292608"/>
            <a:ext cx="20116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b="1" dirty="0">
                <a:solidFill>
                  <a:srgbClr val="0F5C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Crowd</a:t>
            </a:r>
            <a:r>
              <a:rPr lang="en-US" b="1" dirty="0">
                <a:solidFill>
                  <a:srgbClr val="E8563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Heal</a:t>
            </a: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B986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SITE STRUCTURE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658368"/>
            <a:ext cx="8778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2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Home page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484632" y="1490472"/>
            <a:ext cx="3602736" cy="2944366"/>
          </a:xfrm>
          <a:prstGeom prst="roundRect">
            <a:avLst>
              <a:gd name="adj" fmla="val 1542"/>
            </a:avLst>
          </a:prstGeom>
          <a:solidFill>
            <a:srgbClr val="FFFFFF"/>
          </a:solidFill>
          <a:ln w="12700">
            <a:solidFill>
              <a:srgbClr val="DCE1E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94360" y="1600200"/>
            <a:ext cx="3383280" cy="777240"/>
          </a:xfrm>
          <a:prstGeom prst="roundRect">
            <a:avLst>
              <a:gd name="adj" fmla="val 4706"/>
            </a:avLst>
          </a:prstGeom>
          <a:solidFill>
            <a:srgbClr val="F0B429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1600200"/>
            <a:ext cx="31089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Hero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94360" y="2514600"/>
            <a:ext cx="3383280" cy="502920"/>
          </a:xfrm>
          <a:prstGeom prst="roundRect">
            <a:avLst>
              <a:gd name="adj" fmla="val 7273"/>
            </a:avLst>
          </a:prstGeom>
          <a:solidFill>
            <a:srgbClr val="F1F3F7"/>
          </a:solidFill>
          <a:ln/>
        </p:spPr>
      </p:sp>
      <p:sp>
        <p:nvSpPr>
          <p:cNvPr id="10" name="Text 8"/>
          <p:cNvSpPr/>
          <p:nvPr/>
        </p:nvSpPr>
        <p:spPr>
          <a:xfrm>
            <a:off x="731520" y="2514600"/>
            <a:ext cx="3108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Illustration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94360" y="3154680"/>
            <a:ext cx="3383280" cy="502920"/>
          </a:xfrm>
          <a:prstGeom prst="roundRect">
            <a:avLst>
              <a:gd name="adj" fmla="val 7273"/>
            </a:avLst>
          </a:prstGeom>
          <a:solidFill>
            <a:srgbClr val="FBE7B4"/>
          </a:solidFill>
          <a:ln/>
        </p:spPr>
        <p:txBody>
          <a:bodyPr/>
          <a:lstStyle/>
          <a:p>
            <a:endParaRPr lang="en-IN" dirty="0"/>
          </a:p>
        </p:txBody>
      </p:sp>
      <p:sp>
        <p:nvSpPr>
          <p:cNvPr id="12" name="Text 10"/>
          <p:cNvSpPr/>
          <p:nvPr/>
        </p:nvSpPr>
        <p:spPr>
          <a:xfrm>
            <a:off x="731520" y="3154680"/>
            <a:ext cx="3108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Success stories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94360" y="3794760"/>
            <a:ext cx="3383280" cy="502920"/>
          </a:xfrm>
          <a:prstGeom prst="roundRect">
            <a:avLst>
              <a:gd name="adj" fmla="val 7273"/>
            </a:avLst>
          </a:prstGeom>
          <a:solidFill>
            <a:srgbClr val="F1F3F7"/>
          </a:solidFill>
          <a:ln/>
        </p:spPr>
      </p:sp>
      <p:sp>
        <p:nvSpPr>
          <p:cNvPr id="14" name="Text 12"/>
          <p:cNvSpPr/>
          <p:nvPr/>
        </p:nvSpPr>
        <p:spPr>
          <a:xfrm>
            <a:off x="731520" y="3794760"/>
            <a:ext cx="3108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731520" y="4434840"/>
            <a:ext cx="3108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343400" y="1554480"/>
            <a:ext cx="73152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1E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Hero section  </a:t>
            </a:r>
            <a:r>
              <a:rPr lang="en-US" sz="12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Introduces the service and links to Start a Fundraiser and Browse Campaigns.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4343400" y="2395728"/>
            <a:ext cx="7315200" cy="0"/>
          </a:xfrm>
          <a:prstGeom prst="line">
            <a:avLst/>
          </a:prstGeom>
          <a:noFill/>
          <a:ln w="9525">
            <a:solidFill>
              <a:srgbClr val="DCE1E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343400" y="2468880"/>
            <a:ext cx="73152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1E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Featured illustration: </a:t>
            </a:r>
            <a:r>
              <a:rPr lang="en-US" sz="1350" dirty="0">
                <a:solidFill>
                  <a:srgbClr val="1E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illustration that </a:t>
            </a:r>
            <a:r>
              <a:rPr lang="en-US" sz="12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supports the page's emotional tone.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4343400" y="3310128"/>
            <a:ext cx="7315200" cy="0"/>
          </a:xfrm>
          <a:prstGeom prst="line">
            <a:avLst/>
          </a:prstGeom>
          <a:noFill/>
          <a:ln w="9525">
            <a:solidFill>
              <a:srgbClr val="DCE1E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343400" y="3383280"/>
            <a:ext cx="73152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1E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Success stories</a:t>
            </a:r>
            <a:r>
              <a:rPr lang="en-US" sz="1350" dirty="0">
                <a:solidFill>
                  <a:srgbClr val="1E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present</a:t>
            </a:r>
            <a:r>
              <a:rPr lang="en-US" sz="12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slideshow of eight sample recovery stories.</a:t>
            </a:r>
            <a:endParaRPr lang="en-US" sz="1350" dirty="0"/>
          </a:p>
        </p:txBody>
      </p:sp>
      <p:sp>
        <p:nvSpPr>
          <p:cNvPr id="22" name="Shape 20"/>
          <p:cNvSpPr/>
          <p:nvPr/>
        </p:nvSpPr>
        <p:spPr>
          <a:xfrm>
            <a:off x="4343400" y="4224528"/>
            <a:ext cx="7315200" cy="0"/>
          </a:xfrm>
          <a:prstGeom prst="line">
            <a:avLst/>
          </a:prstGeom>
          <a:noFill/>
          <a:ln w="9525">
            <a:solidFill>
              <a:srgbClr val="DCE1E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343400" y="4297680"/>
            <a:ext cx="73152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1E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CrowdHeal works  </a:t>
            </a:r>
            <a:r>
              <a:rPr lang="en-US" sz="125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Describes sharing a story, reaching a community, and helping fund care.</a:t>
            </a:r>
            <a:endParaRPr lang="en-US" sz="1350" dirty="0"/>
          </a:p>
        </p:txBody>
      </p:sp>
      <p:sp>
        <p:nvSpPr>
          <p:cNvPr id="25" name="Text 23"/>
          <p:cNvSpPr/>
          <p:nvPr/>
        </p:nvSpPr>
        <p:spPr>
          <a:xfrm>
            <a:off x="4343400" y="5212080"/>
            <a:ext cx="73152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8000"/>
              </a:lnSpc>
              <a:buNone/>
            </a:pPr>
            <a:endParaRPr lang="en-US" sz="1350" dirty="0"/>
          </a:p>
        </p:txBody>
      </p:sp>
      <p:sp>
        <p:nvSpPr>
          <p:cNvPr id="26" name="Shape 24"/>
          <p:cNvSpPr/>
          <p:nvPr/>
        </p:nvSpPr>
        <p:spPr>
          <a:xfrm>
            <a:off x="457200" y="6473952"/>
            <a:ext cx="11277295" cy="0"/>
          </a:xfrm>
          <a:prstGeom prst="line">
            <a:avLst/>
          </a:prstGeom>
          <a:noFill/>
          <a:ln w="9525">
            <a:solidFill>
              <a:srgbClr val="DCE1E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57200" y="6528816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CrowdHeal — medical crowdfunding prototype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10728655" y="6528816"/>
            <a:ext cx="1005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/ 10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-457200" y="3246120"/>
            <a:ext cx="4023360" cy="3749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 algn="l">
              <a:buNone/>
            </a:pPr>
            <a:r>
              <a:rPr lang="en-US" sz="23000" b="1" dirty="0">
                <a:solidFill>
                  <a:srgbClr val="F1F2F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23000" dirty="0"/>
          </a:p>
        </p:txBody>
      </p:sp>
      <p:sp>
        <p:nvSpPr>
          <p:cNvPr id="3" name="Text 1"/>
          <p:cNvSpPr/>
          <p:nvPr/>
        </p:nvSpPr>
        <p:spPr>
          <a:xfrm>
            <a:off x="9905695" y="292608"/>
            <a:ext cx="20116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b="1" dirty="0">
                <a:solidFill>
                  <a:srgbClr val="0F5C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Crowd</a:t>
            </a:r>
            <a:r>
              <a:rPr lang="en-US" b="1" dirty="0">
                <a:solidFill>
                  <a:srgbClr val="E8563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Heal</a:t>
            </a: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B986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DISCOVERY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658368"/>
            <a:ext cx="8778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2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Find a campaign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48640" y="1600200"/>
            <a:ext cx="2651760" cy="1417320"/>
          </a:xfrm>
          <a:prstGeom prst="roundRect">
            <a:avLst>
              <a:gd name="adj" fmla="val 5161"/>
            </a:avLst>
          </a:prstGeom>
          <a:solidFill>
            <a:srgbClr val="F0B429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1627632"/>
            <a:ext cx="26517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1E2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548640" y="2395728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E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 campaigns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3520440" y="1627632"/>
            <a:ext cx="813816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1E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Cards show the treatment category, location, hospital, story, fundraising progress, donor count, and time remaining.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48640" y="329184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kern="0" spc="200" dirty="0">
                <a:solidFill>
                  <a:srgbClr val="B986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VISITORS CAN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48640" y="3657600"/>
            <a:ext cx="361188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DCE1E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77240" y="3886200"/>
            <a:ext cx="502920" cy="502920"/>
          </a:xfrm>
          <a:prstGeom prst="ellipse">
            <a:avLst/>
          </a:prstGeom>
          <a:solidFill>
            <a:srgbClr val="FBE7B4"/>
          </a:solidFill>
          <a:ln/>
        </p:spPr>
      </p:sp>
      <p:pic>
        <p:nvPicPr>
          <p:cNvPr id="1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5134" y="3954094"/>
            <a:ext cx="367132" cy="367132"/>
          </a:xfrm>
          <a:prstGeom prst="rect">
            <a:avLst/>
          </a:prstGeom>
        </p:spPr>
      </p:pic>
      <p:sp>
        <p:nvSpPr>
          <p:cNvPr id="14" name="Text 11"/>
          <p:cNvSpPr/>
          <p:nvPr/>
        </p:nvSpPr>
        <p:spPr>
          <a:xfrm>
            <a:off x="1417320" y="3858768"/>
            <a:ext cx="2606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Search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777240" y="4434840"/>
            <a:ext cx="315468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campaign, hospital, or treatment.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4389120" y="3657600"/>
            <a:ext cx="361188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DCE1E8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4617720" y="3886200"/>
            <a:ext cx="502920" cy="502920"/>
          </a:xfrm>
          <a:prstGeom prst="ellipse">
            <a:avLst/>
          </a:prstGeom>
          <a:solidFill>
            <a:srgbClr val="FBE7B4"/>
          </a:solidFill>
          <a:ln/>
        </p:spPr>
      </p:sp>
      <p:pic>
        <p:nvPicPr>
          <p:cNvPr id="18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85614" y="3954094"/>
            <a:ext cx="367132" cy="367132"/>
          </a:xfrm>
          <a:prstGeom prst="rect">
            <a:avLst/>
          </a:prstGeom>
        </p:spPr>
      </p:pic>
      <p:sp>
        <p:nvSpPr>
          <p:cNvPr id="19" name="Text 15"/>
          <p:cNvSpPr/>
          <p:nvPr/>
        </p:nvSpPr>
        <p:spPr>
          <a:xfrm>
            <a:off x="5257800" y="3858768"/>
            <a:ext cx="2606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Filter</a:t>
            </a:r>
            <a:endParaRPr lang="en-US" sz="1500" dirty="0"/>
          </a:p>
        </p:txBody>
      </p:sp>
      <p:sp>
        <p:nvSpPr>
          <p:cNvPr id="20" name="Text 16"/>
          <p:cNvSpPr/>
          <p:nvPr/>
        </p:nvSpPr>
        <p:spPr>
          <a:xfrm>
            <a:off x="4617720" y="4434840"/>
            <a:ext cx="315468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category.</a:t>
            </a:r>
            <a:endParaRPr lang="en-US" sz="1200" dirty="0"/>
          </a:p>
        </p:txBody>
      </p:sp>
      <p:sp>
        <p:nvSpPr>
          <p:cNvPr id="21" name="Shape 17"/>
          <p:cNvSpPr/>
          <p:nvPr/>
        </p:nvSpPr>
        <p:spPr>
          <a:xfrm>
            <a:off x="8229600" y="3657600"/>
            <a:ext cx="361188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DCE1E8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8458200" y="3886200"/>
            <a:ext cx="502920" cy="502920"/>
          </a:xfrm>
          <a:prstGeom prst="ellipse">
            <a:avLst/>
          </a:prstGeom>
          <a:solidFill>
            <a:srgbClr val="FBE7B4"/>
          </a:solidFill>
          <a:ln/>
        </p:spPr>
      </p:sp>
      <p:pic>
        <p:nvPicPr>
          <p:cNvPr id="23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26094" y="3954094"/>
            <a:ext cx="367132" cy="367132"/>
          </a:xfrm>
          <a:prstGeom prst="rect">
            <a:avLst/>
          </a:prstGeom>
        </p:spPr>
      </p:pic>
      <p:sp>
        <p:nvSpPr>
          <p:cNvPr id="24" name="Text 19"/>
          <p:cNvSpPr/>
          <p:nvPr/>
        </p:nvSpPr>
        <p:spPr>
          <a:xfrm>
            <a:off x="9098280" y="3858768"/>
            <a:ext cx="2606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Sort</a:t>
            </a:r>
            <a:endParaRPr lang="en-US" sz="1500" dirty="0"/>
          </a:p>
        </p:txBody>
      </p:sp>
      <p:sp>
        <p:nvSpPr>
          <p:cNvPr id="25" name="Text 20"/>
          <p:cNvSpPr/>
          <p:nvPr/>
        </p:nvSpPr>
        <p:spPr>
          <a:xfrm>
            <a:off x="8458200" y="4434840"/>
            <a:ext cx="315468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urgency, donor count, amount raised, goal progress, or recency.</a:t>
            </a:r>
            <a:endParaRPr lang="en-US" sz="1200" dirty="0"/>
          </a:p>
        </p:txBody>
      </p:sp>
      <p:sp>
        <p:nvSpPr>
          <p:cNvPr id="26" name="Shape 21"/>
          <p:cNvSpPr/>
          <p:nvPr/>
        </p:nvSpPr>
        <p:spPr>
          <a:xfrm>
            <a:off x="457200" y="6473952"/>
            <a:ext cx="11277295" cy="0"/>
          </a:xfrm>
          <a:prstGeom prst="line">
            <a:avLst/>
          </a:prstGeom>
          <a:noFill/>
          <a:ln w="9525">
            <a:solidFill>
              <a:srgbClr val="DCE1E8"/>
            </a:solidFill>
            <a:prstDash val="solid"/>
          </a:ln>
        </p:spPr>
      </p:sp>
      <p:sp>
        <p:nvSpPr>
          <p:cNvPr id="27" name="Text 22"/>
          <p:cNvSpPr/>
          <p:nvPr/>
        </p:nvSpPr>
        <p:spPr>
          <a:xfrm>
            <a:off x="457200" y="6528816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CrowdHeal — medical crowdfunding prototype</a:t>
            </a:r>
            <a:endParaRPr lang="en-US" sz="900" dirty="0"/>
          </a:p>
        </p:txBody>
      </p:sp>
      <p:sp>
        <p:nvSpPr>
          <p:cNvPr id="28" name="Text 23"/>
          <p:cNvSpPr/>
          <p:nvPr/>
        </p:nvSpPr>
        <p:spPr>
          <a:xfrm>
            <a:off x="10728655" y="6528816"/>
            <a:ext cx="1005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/ 10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-457200" y="3246120"/>
            <a:ext cx="4023360" cy="3749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 algn="l">
              <a:buNone/>
            </a:pPr>
            <a:r>
              <a:rPr lang="en-US" sz="23000" b="1" dirty="0">
                <a:solidFill>
                  <a:srgbClr val="F1F2F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06</a:t>
            </a:r>
            <a:endParaRPr lang="en-US" sz="23000" dirty="0"/>
          </a:p>
        </p:txBody>
      </p:sp>
      <p:sp>
        <p:nvSpPr>
          <p:cNvPr id="3" name="Text 1"/>
          <p:cNvSpPr/>
          <p:nvPr/>
        </p:nvSpPr>
        <p:spPr>
          <a:xfrm>
            <a:off x="9905695" y="292608"/>
            <a:ext cx="20116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b="1" dirty="0">
                <a:solidFill>
                  <a:srgbClr val="0F5C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Crowd</a:t>
            </a:r>
            <a:r>
              <a:rPr lang="en-US" b="1" dirty="0">
                <a:solidFill>
                  <a:srgbClr val="E8563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Heal</a:t>
            </a: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B986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GIVING FLOW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658368"/>
            <a:ext cx="8778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2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Campaign details and giving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548640" y="1600200"/>
            <a:ext cx="603504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32000"/>
              </a:lnSpc>
              <a:buNone/>
            </a:pPr>
            <a:r>
              <a:rPr lang="en-US" sz="1400" dirty="0">
                <a:solidFill>
                  <a:srgbClr val="1E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campaign detail page presents the patient's story and fundraising progress. Visitors can choose or enter a donation amount, provide their name and email, and share the campaign.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48640" y="3246120"/>
            <a:ext cx="6035040" cy="1600200"/>
          </a:xfrm>
          <a:prstGeom prst="roundRect">
            <a:avLst>
              <a:gd name="adj" fmla="val 4571"/>
            </a:avLst>
          </a:prstGeom>
          <a:solidFill>
            <a:srgbClr val="FFF6E3"/>
          </a:solidFill>
          <a:ln w="15875">
            <a:solidFill>
              <a:srgbClr val="F0B42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34290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150" dirty="0">
                <a:solidFill>
                  <a:srgbClr val="B986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PROTOTYPE DETAIL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822960" y="3703320"/>
            <a:ext cx="548640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8000"/>
              </a:lnSpc>
              <a:buNone/>
            </a:pPr>
            <a:r>
              <a:rPr lang="en-US" sz="1300" i="1" dirty="0">
                <a:solidFill>
                  <a:srgbClr val="6B50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Donations update campaign totals in the browser. The project does not connect to a real payment processor.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7132320" y="1737360"/>
            <a:ext cx="457200" cy="457200"/>
          </a:xfrm>
          <a:prstGeom prst="ellipse">
            <a:avLst/>
          </a:prstGeom>
          <a:solidFill>
            <a:srgbClr val="F0B429"/>
          </a:solidFill>
          <a:ln/>
        </p:spPr>
      </p:sp>
      <p:sp>
        <p:nvSpPr>
          <p:cNvPr id="11" name="Text 9"/>
          <p:cNvSpPr/>
          <p:nvPr/>
        </p:nvSpPr>
        <p:spPr>
          <a:xfrm>
            <a:off x="7132320" y="17373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7726680" y="1645920"/>
            <a:ext cx="3931920" cy="822960"/>
          </a:xfrm>
          <a:prstGeom prst="roundRect">
            <a:avLst>
              <a:gd name="adj" fmla="val 7778"/>
            </a:avLst>
          </a:prstGeom>
          <a:solidFill>
            <a:srgbClr val="FFFFFF"/>
          </a:solidFill>
          <a:ln w="12700">
            <a:solidFill>
              <a:srgbClr val="DCE1E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909560" y="1645920"/>
            <a:ext cx="36118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 or enter a donation amount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7589520" y="2468880"/>
            <a:ext cx="0" cy="457200"/>
          </a:xfrm>
          <a:prstGeom prst="line">
            <a:avLst/>
          </a:prstGeom>
          <a:noFill/>
          <a:ln w="25400">
            <a:solidFill>
              <a:srgbClr val="F0B429"/>
            </a:solidFill>
            <a:prstDash val="dash"/>
          </a:ln>
        </p:spPr>
      </p:sp>
      <p:sp>
        <p:nvSpPr>
          <p:cNvPr id="15" name="Shape 13"/>
          <p:cNvSpPr/>
          <p:nvPr/>
        </p:nvSpPr>
        <p:spPr>
          <a:xfrm>
            <a:off x="7132320" y="3017520"/>
            <a:ext cx="457200" cy="457200"/>
          </a:xfrm>
          <a:prstGeom prst="ellipse">
            <a:avLst/>
          </a:prstGeom>
          <a:solidFill>
            <a:srgbClr val="F0B429"/>
          </a:solidFill>
          <a:ln/>
        </p:spPr>
      </p:sp>
      <p:sp>
        <p:nvSpPr>
          <p:cNvPr id="16" name="Text 14"/>
          <p:cNvSpPr/>
          <p:nvPr/>
        </p:nvSpPr>
        <p:spPr>
          <a:xfrm>
            <a:off x="7132320" y="30175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26680" y="2926080"/>
            <a:ext cx="3931920" cy="822960"/>
          </a:xfrm>
          <a:prstGeom prst="roundRect">
            <a:avLst>
              <a:gd name="adj" fmla="val 7778"/>
            </a:avLst>
          </a:prstGeom>
          <a:solidFill>
            <a:srgbClr val="FFFFFF"/>
          </a:solidFill>
          <a:ln w="12700">
            <a:solidFill>
              <a:srgbClr val="DCE1E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909560" y="2926080"/>
            <a:ext cx="36118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Provide name and email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7589520" y="3749040"/>
            <a:ext cx="0" cy="457200"/>
          </a:xfrm>
          <a:prstGeom prst="line">
            <a:avLst/>
          </a:prstGeom>
          <a:noFill/>
          <a:ln w="25400">
            <a:solidFill>
              <a:srgbClr val="F0B429"/>
            </a:solidFill>
            <a:prstDash val="dash"/>
          </a:ln>
        </p:spPr>
      </p:sp>
      <p:sp>
        <p:nvSpPr>
          <p:cNvPr id="20" name="Shape 18"/>
          <p:cNvSpPr/>
          <p:nvPr/>
        </p:nvSpPr>
        <p:spPr>
          <a:xfrm>
            <a:off x="7132320" y="4297680"/>
            <a:ext cx="457200" cy="457200"/>
          </a:xfrm>
          <a:prstGeom prst="ellipse">
            <a:avLst/>
          </a:prstGeom>
          <a:solidFill>
            <a:srgbClr val="F0B429"/>
          </a:solidFill>
          <a:ln/>
        </p:spPr>
      </p:sp>
      <p:sp>
        <p:nvSpPr>
          <p:cNvPr id="21" name="Text 19"/>
          <p:cNvSpPr/>
          <p:nvPr/>
        </p:nvSpPr>
        <p:spPr>
          <a:xfrm>
            <a:off x="7132320" y="42976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7726680" y="4206240"/>
            <a:ext cx="3931920" cy="822960"/>
          </a:xfrm>
          <a:prstGeom prst="roundRect">
            <a:avLst>
              <a:gd name="adj" fmla="val 7778"/>
            </a:avLst>
          </a:prstGeom>
          <a:solidFill>
            <a:srgbClr val="FFFFFF"/>
          </a:solidFill>
          <a:ln w="12700">
            <a:solidFill>
              <a:srgbClr val="DCE1E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909560" y="4206240"/>
            <a:ext cx="36118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the campaign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457200" y="6473952"/>
            <a:ext cx="11277295" cy="0"/>
          </a:xfrm>
          <a:prstGeom prst="line">
            <a:avLst/>
          </a:prstGeom>
          <a:noFill/>
          <a:ln w="9525">
            <a:solidFill>
              <a:srgbClr val="DCE1E8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57200" y="6528816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CrowdHeal — medical crowdfunding prototype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0728655" y="6528816"/>
            <a:ext cx="1005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/ 10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-457200" y="3246120"/>
            <a:ext cx="4023360" cy="3749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 algn="l">
              <a:buNone/>
            </a:pPr>
            <a:r>
              <a:rPr lang="en-US" sz="23000" b="1" dirty="0">
                <a:solidFill>
                  <a:srgbClr val="F1F2F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07</a:t>
            </a:r>
            <a:endParaRPr lang="en-US" sz="23000" dirty="0"/>
          </a:p>
        </p:txBody>
      </p:sp>
      <p:sp>
        <p:nvSpPr>
          <p:cNvPr id="3" name="Text 1"/>
          <p:cNvSpPr/>
          <p:nvPr/>
        </p:nvSpPr>
        <p:spPr>
          <a:xfrm>
            <a:off x="9905695" y="292608"/>
            <a:ext cx="20116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b="1" dirty="0">
                <a:solidFill>
                  <a:srgbClr val="0F5C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Crowd</a:t>
            </a:r>
            <a:r>
              <a:rPr lang="en-US" b="1" dirty="0">
                <a:solidFill>
                  <a:srgbClr val="E8563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Heal</a:t>
            </a: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B986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CAMPAIGN CREATION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658368"/>
            <a:ext cx="8778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2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Start a fundraiser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548640" y="1536192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1E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creation form gathers campaign and patient information, hospital and location, treatment category, fundraising duration, goal, and an image URL. The image URL is required and previewed in the form.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548640" y="2423160"/>
            <a:ext cx="2029968" cy="96012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CE1E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21792" y="2423160"/>
            <a:ext cx="1883664" cy="9601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E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Campaign &amp; patient info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807208" y="2423160"/>
            <a:ext cx="2029968" cy="96012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CE1E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880360" y="2423160"/>
            <a:ext cx="1883664" cy="9601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E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Hospital &amp; location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065776" y="2423160"/>
            <a:ext cx="2029968" cy="96012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CE1E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138928" y="2423160"/>
            <a:ext cx="1883664" cy="9601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E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Treatment category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7324344" y="2423160"/>
            <a:ext cx="2029968" cy="96012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CE1E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97496" y="2423160"/>
            <a:ext cx="1883664" cy="9601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E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Fundraising duration &amp; goal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9582912" y="2423160"/>
            <a:ext cx="2029968" cy="96012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CE1E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656064" y="2423160"/>
            <a:ext cx="1883664" cy="9601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E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 URL (required, previewed)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48640" y="356616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kern="0" spc="200" dirty="0">
                <a:solidFill>
                  <a:srgbClr val="B986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PUBLISHING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612648" y="3904488"/>
            <a:ext cx="310896" cy="310896"/>
          </a:xfrm>
          <a:prstGeom prst="ellipse">
            <a:avLst/>
          </a:prstGeom>
          <a:solidFill>
            <a:srgbClr val="F0B429"/>
          </a:solidFill>
          <a:ln/>
        </p:spPr>
      </p:sp>
      <p:sp>
        <p:nvSpPr>
          <p:cNvPr id="19" name="Text 17"/>
          <p:cNvSpPr/>
          <p:nvPr/>
        </p:nvSpPr>
        <p:spPr>
          <a:xfrm>
            <a:off x="612648" y="3904488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48640" y="4279392"/>
            <a:ext cx="2354580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12700">
            <a:solidFill>
              <a:srgbClr val="DCE1E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21792" y="4334256"/>
            <a:ext cx="2208276" cy="66751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E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Required fields checked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2921508" y="4512564"/>
            <a:ext cx="237744" cy="310896"/>
          </a:xfrm>
          <a:prstGeom prst="chevron">
            <a:avLst/>
          </a:prstGeom>
          <a:solidFill>
            <a:srgbClr val="F0B429"/>
          </a:solidFill>
          <a:ln/>
        </p:spPr>
      </p:sp>
      <p:sp>
        <p:nvSpPr>
          <p:cNvPr id="23" name="Shape 21"/>
          <p:cNvSpPr/>
          <p:nvPr/>
        </p:nvSpPr>
        <p:spPr>
          <a:xfrm>
            <a:off x="3515868" y="3904488"/>
            <a:ext cx="310896" cy="310896"/>
          </a:xfrm>
          <a:prstGeom prst="ellipse">
            <a:avLst/>
          </a:prstGeom>
          <a:solidFill>
            <a:srgbClr val="F0B429"/>
          </a:solidFill>
          <a:ln/>
        </p:spPr>
      </p:sp>
      <p:sp>
        <p:nvSpPr>
          <p:cNvPr id="24" name="Text 22"/>
          <p:cNvSpPr/>
          <p:nvPr/>
        </p:nvSpPr>
        <p:spPr>
          <a:xfrm>
            <a:off x="3515868" y="3904488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451860" y="4279392"/>
            <a:ext cx="2354580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12700">
            <a:solidFill>
              <a:srgbClr val="DCE1E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525012" y="4334256"/>
            <a:ext cx="2208276" cy="66751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E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Minimum goal checked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5824728" y="4512564"/>
            <a:ext cx="237744" cy="310896"/>
          </a:xfrm>
          <a:prstGeom prst="chevron">
            <a:avLst/>
          </a:prstGeom>
          <a:solidFill>
            <a:srgbClr val="F0B429"/>
          </a:solidFill>
          <a:ln/>
        </p:spPr>
      </p:sp>
      <p:sp>
        <p:nvSpPr>
          <p:cNvPr id="28" name="Shape 26"/>
          <p:cNvSpPr/>
          <p:nvPr/>
        </p:nvSpPr>
        <p:spPr>
          <a:xfrm>
            <a:off x="6419088" y="3904488"/>
            <a:ext cx="310896" cy="310896"/>
          </a:xfrm>
          <a:prstGeom prst="ellipse">
            <a:avLst/>
          </a:prstGeom>
          <a:solidFill>
            <a:srgbClr val="F0B429"/>
          </a:solidFill>
          <a:ln/>
        </p:spPr>
      </p:sp>
      <p:sp>
        <p:nvSpPr>
          <p:cNvPr id="29" name="Text 27"/>
          <p:cNvSpPr/>
          <p:nvPr/>
        </p:nvSpPr>
        <p:spPr>
          <a:xfrm>
            <a:off x="6419088" y="3904488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6355080" y="4279392"/>
            <a:ext cx="2354580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12700">
            <a:solidFill>
              <a:srgbClr val="DCE1E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428232" y="4334256"/>
            <a:ext cx="2208276" cy="66751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E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Campaign published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8727948" y="4512564"/>
            <a:ext cx="237744" cy="310896"/>
          </a:xfrm>
          <a:prstGeom prst="chevron">
            <a:avLst/>
          </a:prstGeom>
          <a:solidFill>
            <a:srgbClr val="F0B429"/>
          </a:solidFill>
          <a:ln/>
        </p:spPr>
      </p:sp>
      <p:sp>
        <p:nvSpPr>
          <p:cNvPr id="33" name="Shape 31"/>
          <p:cNvSpPr/>
          <p:nvPr/>
        </p:nvSpPr>
        <p:spPr>
          <a:xfrm>
            <a:off x="9322308" y="3904488"/>
            <a:ext cx="310896" cy="310896"/>
          </a:xfrm>
          <a:prstGeom prst="ellipse">
            <a:avLst/>
          </a:prstGeom>
          <a:solidFill>
            <a:srgbClr val="F0B429"/>
          </a:solidFill>
          <a:ln/>
        </p:spPr>
      </p:sp>
      <p:sp>
        <p:nvSpPr>
          <p:cNvPr id="34" name="Text 32"/>
          <p:cNvSpPr/>
          <p:nvPr/>
        </p:nvSpPr>
        <p:spPr>
          <a:xfrm>
            <a:off x="9322308" y="3904488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E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9258300" y="4279392"/>
            <a:ext cx="2354580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12700">
            <a:solidFill>
              <a:srgbClr val="DCE1E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9331452" y="4334256"/>
            <a:ext cx="2208276" cy="66751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E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from dashboard</a:t>
            </a:r>
            <a:endParaRPr lang="en-US" sz="1150" dirty="0"/>
          </a:p>
        </p:txBody>
      </p:sp>
      <p:sp>
        <p:nvSpPr>
          <p:cNvPr id="37" name="Shape 35"/>
          <p:cNvSpPr/>
          <p:nvPr/>
        </p:nvSpPr>
        <p:spPr>
          <a:xfrm>
            <a:off x="457200" y="6473952"/>
            <a:ext cx="11277295" cy="0"/>
          </a:xfrm>
          <a:prstGeom prst="line">
            <a:avLst/>
          </a:prstGeom>
          <a:noFill/>
          <a:ln w="9525">
            <a:solidFill>
              <a:srgbClr val="DCE1E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57200" y="6528816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CrowdHeal — medical crowdfunding prototype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10728655" y="6528816"/>
            <a:ext cx="1005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/ 10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-457200" y="3246120"/>
            <a:ext cx="4023360" cy="3749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 algn="l">
              <a:buNone/>
            </a:pPr>
            <a:r>
              <a:rPr lang="en-US" sz="23000" b="1" dirty="0">
                <a:solidFill>
                  <a:srgbClr val="F1F2F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08</a:t>
            </a:r>
            <a:endParaRPr lang="en-US" sz="23000" dirty="0"/>
          </a:p>
        </p:txBody>
      </p:sp>
      <p:sp>
        <p:nvSpPr>
          <p:cNvPr id="3" name="Text 1"/>
          <p:cNvSpPr/>
          <p:nvPr/>
        </p:nvSpPr>
        <p:spPr>
          <a:xfrm>
            <a:off x="9905695" y="292608"/>
            <a:ext cx="20116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b="1" dirty="0">
                <a:solidFill>
                  <a:srgbClr val="0F5C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Crowd</a:t>
            </a:r>
            <a:r>
              <a:rPr lang="en-US" b="1" dirty="0">
                <a:solidFill>
                  <a:srgbClr val="E8563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Heal</a:t>
            </a: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B986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FUNDRAISER TOOLS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658368"/>
            <a:ext cx="8778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2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Fundraiser dashboard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548640" y="150876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kern="0" spc="150" dirty="0">
                <a:solidFill>
                  <a:srgbClr val="B986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FUNDRAISER'S DASHBOARD SHOWS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48640" y="1874520"/>
            <a:ext cx="3611880" cy="1417320"/>
          </a:xfrm>
          <a:prstGeom prst="roundRect">
            <a:avLst>
              <a:gd name="adj" fmla="val 5161"/>
            </a:avLst>
          </a:prstGeom>
          <a:solidFill>
            <a:srgbClr val="F0B429"/>
          </a:solidFill>
          <a:ln/>
        </p:spPr>
      </p:sp>
      <p:sp>
        <p:nvSpPr>
          <p:cNvPr id="8" name="Text 6"/>
          <p:cNvSpPr/>
          <p:nvPr/>
        </p:nvSpPr>
        <p:spPr>
          <a:xfrm>
            <a:off x="777240" y="2011680"/>
            <a:ext cx="3154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E2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Amount raised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777240" y="2578608"/>
            <a:ext cx="3154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A47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&amp; percentage of goal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389120" y="1874520"/>
            <a:ext cx="3611880" cy="1417320"/>
          </a:xfrm>
          <a:prstGeom prst="roundRect">
            <a:avLst>
              <a:gd name="adj" fmla="val 5161"/>
            </a:avLst>
          </a:prstGeom>
          <a:solidFill>
            <a:srgbClr val="F0B429"/>
          </a:solidFill>
          <a:ln/>
        </p:spPr>
      </p:sp>
      <p:sp>
        <p:nvSpPr>
          <p:cNvPr id="11" name="Text 9"/>
          <p:cNvSpPr/>
          <p:nvPr/>
        </p:nvSpPr>
        <p:spPr>
          <a:xfrm>
            <a:off x="4617720" y="2011680"/>
            <a:ext cx="3154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E2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Donor count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4617720" y="2578608"/>
            <a:ext cx="3154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A47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&amp; latest 5 donations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8229600" y="1874520"/>
            <a:ext cx="3611880" cy="1417320"/>
          </a:xfrm>
          <a:prstGeom prst="roundRect">
            <a:avLst>
              <a:gd name="adj" fmla="val 5161"/>
            </a:avLst>
          </a:prstGeom>
          <a:solidFill>
            <a:srgbClr val="F0B429"/>
          </a:solidFill>
          <a:ln/>
        </p:spPr>
      </p:sp>
      <p:sp>
        <p:nvSpPr>
          <p:cNvPr id="14" name="Text 12"/>
          <p:cNvSpPr/>
          <p:nvPr/>
        </p:nvSpPr>
        <p:spPr>
          <a:xfrm>
            <a:off x="8458200" y="2011680"/>
            <a:ext cx="3154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E2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Campaign story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8458200" y="2578608"/>
            <a:ext cx="31546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A47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&amp; details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548640" y="37033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kern="0" spc="150" dirty="0">
                <a:solidFill>
                  <a:srgbClr val="B986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OWNERS CAN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548640" y="4041648"/>
            <a:ext cx="1463040" cy="502920"/>
          </a:xfrm>
          <a:prstGeom prst="roundRect">
            <a:avLst>
              <a:gd name="adj" fmla="val 10909"/>
            </a:avLst>
          </a:prstGeom>
          <a:solidFill>
            <a:srgbClr val="1E2A44"/>
          </a:solidFill>
          <a:ln/>
        </p:spPr>
      </p:sp>
      <p:sp>
        <p:nvSpPr>
          <p:cNvPr id="18" name="Text 16"/>
          <p:cNvSpPr/>
          <p:nvPr/>
        </p:nvSpPr>
        <p:spPr>
          <a:xfrm>
            <a:off x="548640" y="4041648"/>
            <a:ext cx="1463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0B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View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194560" y="4041648"/>
            <a:ext cx="1463040" cy="502920"/>
          </a:xfrm>
          <a:prstGeom prst="roundRect">
            <a:avLst>
              <a:gd name="adj" fmla="val 10909"/>
            </a:avLst>
          </a:prstGeom>
          <a:solidFill>
            <a:srgbClr val="1E2A44"/>
          </a:solidFill>
          <a:ln/>
        </p:spPr>
      </p:sp>
      <p:sp>
        <p:nvSpPr>
          <p:cNvPr id="20" name="Text 18"/>
          <p:cNvSpPr/>
          <p:nvPr/>
        </p:nvSpPr>
        <p:spPr>
          <a:xfrm>
            <a:off x="2194560" y="4041648"/>
            <a:ext cx="1463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0B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3840480" y="4041648"/>
            <a:ext cx="1463040" cy="502920"/>
          </a:xfrm>
          <a:prstGeom prst="roundRect">
            <a:avLst>
              <a:gd name="adj" fmla="val 10909"/>
            </a:avLst>
          </a:prstGeom>
          <a:solidFill>
            <a:srgbClr val="1E2A44"/>
          </a:solidFill>
          <a:ln/>
        </p:spPr>
      </p:sp>
      <p:sp>
        <p:nvSpPr>
          <p:cNvPr id="22" name="Text 20"/>
          <p:cNvSpPr/>
          <p:nvPr/>
        </p:nvSpPr>
        <p:spPr>
          <a:xfrm>
            <a:off x="3840480" y="4041648"/>
            <a:ext cx="1463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0B4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5532120" y="4041648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their campaigns.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548640" y="4846320"/>
            <a:ext cx="11064240" cy="777240"/>
          </a:xfrm>
          <a:prstGeom prst="roundRect">
            <a:avLst>
              <a:gd name="adj" fmla="val 8235"/>
            </a:avLst>
          </a:prstGeom>
          <a:solidFill>
            <a:srgbClr val="FFF6E3"/>
          </a:solidFill>
          <a:ln w="12700">
            <a:solidFill>
              <a:srgbClr val="F0B429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22960" y="4846320"/>
            <a:ext cx="105156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6B50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Removing a campaign also removes its saved donation history.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457200" y="6473952"/>
            <a:ext cx="11277295" cy="0"/>
          </a:xfrm>
          <a:prstGeom prst="line">
            <a:avLst/>
          </a:prstGeom>
          <a:noFill/>
          <a:ln w="9525">
            <a:solidFill>
              <a:srgbClr val="DCE1E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57200" y="6528816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CrowdHeal — medical crowdfunding prototype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10728655" y="6528816"/>
            <a:ext cx="1005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 / 10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-457200" y="3246120"/>
            <a:ext cx="4023360" cy="3749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 algn="l">
              <a:buNone/>
            </a:pPr>
            <a:r>
              <a:rPr lang="en-US" sz="23000" b="1" dirty="0">
                <a:solidFill>
                  <a:srgbClr val="F1F2F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09</a:t>
            </a:r>
            <a:endParaRPr lang="en-US" sz="23000" dirty="0"/>
          </a:p>
        </p:txBody>
      </p:sp>
      <p:sp>
        <p:nvSpPr>
          <p:cNvPr id="3" name="Text 1"/>
          <p:cNvSpPr/>
          <p:nvPr/>
        </p:nvSpPr>
        <p:spPr>
          <a:xfrm>
            <a:off x="9905695" y="292608"/>
            <a:ext cx="20116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b="1" dirty="0">
                <a:solidFill>
                  <a:srgbClr val="0F5C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Crowd</a:t>
            </a:r>
            <a:r>
              <a:rPr lang="en-US" b="1" dirty="0">
                <a:solidFill>
                  <a:srgbClr val="E8563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Heal</a:t>
            </a: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B986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 THE HOOD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658368"/>
            <a:ext cx="8778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2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Accounts, navigation, and interface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48640" y="1600200"/>
            <a:ext cx="5440680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12700">
            <a:solidFill>
              <a:srgbClr val="DCE1E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1874520"/>
            <a:ext cx="548640" cy="548640"/>
          </a:xfrm>
          <a:prstGeom prst="ellipse">
            <a:avLst/>
          </a:prstGeom>
          <a:solidFill>
            <a:srgbClr val="FBE7B4"/>
          </a:solidFill>
          <a:ln/>
        </p:spPr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7026" y="1948586"/>
            <a:ext cx="400507" cy="400507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554480" y="1856232"/>
            <a:ext cx="41605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1E2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Accounts</a:t>
            </a:r>
            <a:endParaRPr lang="en-US" sz="1550" dirty="0"/>
          </a:p>
        </p:txBody>
      </p:sp>
      <p:sp>
        <p:nvSpPr>
          <p:cNvPr id="10" name="Text 7"/>
          <p:cNvSpPr/>
          <p:nvPr/>
        </p:nvSpPr>
        <p:spPr>
          <a:xfrm>
            <a:off x="822960" y="2468880"/>
            <a:ext cx="489204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Sign-in and account creation support the fundraiser workflow.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172200" y="1600200"/>
            <a:ext cx="5440680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12700">
            <a:solidFill>
              <a:srgbClr val="DCE1E8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6446520" y="1874520"/>
            <a:ext cx="548640" cy="548640"/>
          </a:xfrm>
          <a:prstGeom prst="ellipse">
            <a:avLst/>
          </a:prstGeom>
          <a:solidFill>
            <a:srgbClr val="FBE7B4"/>
          </a:solidFill>
          <a:ln/>
        </p:spPr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20586" y="1948586"/>
            <a:ext cx="400507" cy="400507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178040" y="1856232"/>
            <a:ext cx="41605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1E2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Profile menu</a:t>
            </a:r>
            <a:endParaRPr lang="en-US" sz="1550" dirty="0"/>
          </a:p>
        </p:txBody>
      </p:sp>
      <p:sp>
        <p:nvSpPr>
          <p:cNvPr id="15" name="Text 11"/>
          <p:cNvSpPr/>
          <p:nvPr/>
        </p:nvSpPr>
        <p:spPr>
          <a:xfrm>
            <a:off x="6446520" y="2468880"/>
            <a:ext cx="489204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 details, dashboard access, and log out; signed-out visitors can choose sign in or create an account.</a:t>
            </a:r>
            <a:endParaRPr lang="en-US" sz="1200" dirty="0"/>
          </a:p>
        </p:txBody>
      </p:sp>
      <p:sp>
        <p:nvSpPr>
          <p:cNvPr id="16" name="Shape 12"/>
          <p:cNvSpPr/>
          <p:nvPr/>
        </p:nvSpPr>
        <p:spPr>
          <a:xfrm>
            <a:off x="548640" y="3657600"/>
            <a:ext cx="5440680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12700">
            <a:solidFill>
              <a:srgbClr val="DCE1E8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822960" y="3931920"/>
            <a:ext cx="548640" cy="548640"/>
          </a:xfrm>
          <a:prstGeom prst="ellipse">
            <a:avLst/>
          </a:prstGeom>
          <a:solidFill>
            <a:srgbClr val="FBE7B4"/>
          </a:solidFill>
          <a:ln/>
        </p:spPr>
      </p:sp>
      <p:pic>
        <p:nvPicPr>
          <p:cNvPr id="18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7026" y="4005986"/>
            <a:ext cx="400507" cy="400507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1554480" y="3913632"/>
            <a:ext cx="41605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1E2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Responsive layout</a:t>
            </a:r>
            <a:endParaRPr lang="en-US" sz="1550" dirty="0"/>
          </a:p>
        </p:txBody>
      </p:sp>
      <p:sp>
        <p:nvSpPr>
          <p:cNvPr id="20" name="Text 15"/>
          <p:cNvSpPr/>
          <p:nvPr/>
        </p:nvSpPr>
        <p:spPr>
          <a:xfrm>
            <a:off x="822960" y="4526280"/>
            <a:ext cx="489204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Adapts to smaller screens, with responsive grids and mobile navigation.</a:t>
            </a:r>
            <a:endParaRPr lang="en-US" sz="1200" dirty="0"/>
          </a:p>
        </p:txBody>
      </p:sp>
      <p:sp>
        <p:nvSpPr>
          <p:cNvPr id="21" name="Shape 16"/>
          <p:cNvSpPr/>
          <p:nvPr/>
        </p:nvSpPr>
        <p:spPr>
          <a:xfrm>
            <a:off x="6172200" y="3657600"/>
            <a:ext cx="5440680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12700">
            <a:solidFill>
              <a:srgbClr val="DCE1E8"/>
            </a:solidFill>
            <a:prstDash val="solid"/>
          </a:ln>
        </p:spPr>
      </p:sp>
      <p:sp>
        <p:nvSpPr>
          <p:cNvPr id="22" name="Shape 17"/>
          <p:cNvSpPr/>
          <p:nvPr/>
        </p:nvSpPr>
        <p:spPr>
          <a:xfrm>
            <a:off x="6446520" y="3931920"/>
            <a:ext cx="548640" cy="548640"/>
          </a:xfrm>
          <a:prstGeom prst="ellipse">
            <a:avLst/>
          </a:prstGeom>
          <a:solidFill>
            <a:srgbClr val="FBE7B4"/>
          </a:solidFill>
          <a:ln/>
        </p:spPr>
      </p:sp>
      <p:pic>
        <p:nvPicPr>
          <p:cNvPr id="23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20586" y="4005986"/>
            <a:ext cx="400507" cy="400507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7178040" y="3913632"/>
            <a:ext cx="41605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1E2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</a:t>
            </a:r>
            <a:endParaRPr lang="en-US" sz="1550" dirty="0"/>
          </a:p>
        </p:txBody>
      </p:sp>
      <p:sp>
        <p:nvSpPr>
          <p:cNvPr id="25" name="Text 19"/>
          <p:cNvSpPr/>
          <p:nvPr/>
        </p:nvSpPr>
        <p:spPr>
          <a:xfrm>
            <a:off x="6446520" y="4526280"/>
            <a:ext cx="489204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HTML, CSS, and JavaScript..</a:t>
            </a:r>
            <a:endParaRPr lang="en-US" sz="1200" dirty="0"/>
          </a:p>
        </p:txBody>
      </p:sp>
      <p:sp>
        <p:nvSpPr>
          <p:cNvPr id="26" name="Shape 20"/>
          <p:cNvSpPr/>
          <p:nvPr/>
        </p:nvSpPr>
        <p:spPr>
          <a:xfrm>
            <a:off x="457200" y="6473952"/>
            <a:ext cx="11277295" cy="0"/>
          </a:xfrm>
          <a:prstGeom prst="line">
            <a:avLst/>
          </a:prstGeom>
          <a:noFill/>
          <a:ln w="9525">
            <a:solidFill>
              <a:srgbClr val="DCE1E8"/>
            </a:solidFill>
            <a:prstDash val="solid"/>
          </a:ln>
        </p:spPr>
      </p:sp>
      <p:sp>
        <p:nvSpPr>
          <p:cNvPr id="27" name="Text 21"/>
          <p:cNvSpPr/>
          <p:nvPr/>
        </p:nvSpPr>
        <p:spPr>
          <a:xfrm>
            <a:off x="457200" y="6528816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CrowdHeal — medical crowdfunding prototype</a:t>
            </a:r>
            <a:endParaRPr lang="en-US" sz="900" dirty="0"/>
          </a:p>
        </p:txBody>
      </p:sp>
      <p:sp>
        <p:nvSpPr>
          <p:cNvPr id="28" name="Text 22"/>
          <p:cNvSpPr/>
          <p:nvPr/>
        </p:nvSpPr>
        <p:spPr>
          <a:xfrm>
            <a:off x="10728655" y="6528816"/>
            <a:ext cx="1005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 / 10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-457200" y="3246120"/>
            <a:ext cx="4023360" cy="3749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 algn="l">
              <a:buNone/>
            </a:pPr>
            <a:r>
              <a:rPr lang="en-US" sz="23000" b="1" dirty="0">
                <a:solidFill>
                  <a:srgbClr val="F1F2F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23000" dirty="0"/>
          </a:p>
        </p:txBody>
      </p:sp>
      <p:sp>
        <p:nvSpPr>
          <p:cNvPr id="3" name="Text 1"/>
          <p:cNvSpPr/>
          <p:nvPr/>
        </p:nvSpPr>
        <p:spPr>
          <a:xfrm>
            <a:off x="9905695" y="292608"/>
            <a:ext cx="20116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b="1" dirty="0">
                <a:solidFill>
                  <a:srgbClr val="0F5C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Crowd</a:t>
            </a:r>
            <a:r>
              <a:rPr lang="en-US" b="1" dirty="0">
                <a:solidFill>
                  <a:srgbClr val="E8563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Heal</a:t>
            </a: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B986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CLOSING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658368"/>
            <a:ext cx="106070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2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the prototype demonstrates — and what it doesn't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48640" y="1783080"/>
            <a:ext cx="5349240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12700">
            <a:solidFill>
              <a:srgbClr val="DCE1E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1965960"/>
            <a:ext cx="4846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kern="0" spc="150" dirty="0">
                <a:solidFill>
                  <a:srgbClr val="B986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STORED IN THE BROWSER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822960" y="2286000"/>
            <a:ext cx="484632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03200" indent="-203200">
              <a:lnSpc>
                <a:spcPct val="112000"/>
              </a:lnSpc>
              <a:spcAft>
                <a:spcPts val="800"/>
              </a:spcAft>
              <a:buSzPct val="100000"/>
              <a:buChar char="–"/>
            </a:pPr>
            <a:r>
              <a:rPr lang="en-US" sz="1250" dirty="0">
                <a:solidFill>
                  <a:srgbClr val="1E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Campaigns and donation activity live in browser localStorage.</a:t>
            </a:r>
            <a:endParaRPr lang="en-US" sz="1250" dirty="0"/>
          </a:p>
          <a:p>
            <a:pPr marL="203200" indent="-203200">
              <a:lnSpc>
                <a:spcPct val="112000"/>
              </a:lnSpc>
              <a:spcAft>
                <a:spcPts val="800"/>
              </a:spcAft>
              <a:buSzPct val="100000"/>
              <a:buChar char="–"/>
            </a:pPr>
            <a:r>
              <a:rPr lang="en-US" sz="1250" dirty="0">
                <a:solidFill>
                  <a:srgbClr val="1E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 and session data uses sessionStorage.</a:t>
            </a:r>
            <a:endParaRPr lang="en-US" sz="1250" dirty="0"/>
          </a:p>
          <a:p>
            <a:pPr marL="203200" indent="-203200">
              <a:lnSpc>
                <a:spcPct val="112000"/>
              </a:lnSpc>
              <a:spcAft>
                <a:spcPts val="800"/>
              </a:spcAft>
              <a:buSzPct val="100000"/>
              <a:buChar char="–"/>
            </a:pPr>
            <a:r>
              <a:rPr lang="en-US" sz="1250" dirty="0">
                <a:solidFill>
                  <a:srgbClr val="1E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Campaign data is limited to that browser and device.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263640" y="1783080"/>
            <a:ext cx="5349240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15875">
            <a:solidFill>
              <a:srgbClr val="F0B42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537960" y="1965960"/>
            <a:ext cx="4846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kern="0" spc="150" dirty="0">
                <a:solidFill>
                  <a:srgbClr val="B986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INTERFACE CLAIMS, NOT IMPLEMENTED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6537960" y="2286000"/>
            <a:ext cx="484632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03200" indent="-203200">
              <a:lnSpc>
                <a:spcPct val="112000"/>
              </a:lnSpc>
              <a:spcAft>
                <a:spcPts val="800"/>
              </a:spcAft>
              <a:buSzPct val="100000"/>
              <a:buChar char="–"/>
            </a:pPr>
            <a:r>
              <a:rPr lang="en-US" sz="1250" dirty="0">
                <a:solidFill>
                  <a:srgbClr val="1E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Hospital verification and direct hospital payouts are page text, not backend services.</a:t>
            </a:r>
            <a:endParaRPr lang="en-US" sz="1250" dirty="0"/>
          </a:p>
          <a:p>
            <a:pPr marL="203200" indent="-203200">
              <a:lnSpc>
                <a:spcPct val="112000"/>
              </a:lnSpc>
              <a:spcAft>
                <a:spcPts val="800"/>
              </a:spcAft>
              <a:buSzPct val="100000"/>
              <a:buChar char="–"/>
            </a:pPr>
            <a:r>
              <a:rPr lang="en-US" sz="1250" dirty="0">
                <a:solidFill>
                  <a:srgbClr val="1E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real payment processing or payout system.</a:t>
            </a:r>
            <a:endParaRPr lang="en-US" sz="1250" dirty="0"/>
          </a:p>
          <a:p>
            <a:pPr marL="203200" indent="-203200">
              <a:lnSpc>
                <a:spcPct val="112000"/>
              </a:lnSpc>
              <a:spcAft>
                <a:spcPts val="800"/>
              </a:spcAft>
              <a:buSzPct val="100000"/>
              <a:buChar char="–"/>
            </a:pPr>
            <a:r>
              <a:rPr lang="en-US" sz="1250" dirty="0">
                <a:solidFill>
                  <a:srgbClr val="1E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Home-page impact statistics are static display figures.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48640" y="4370832"/>
            <a:ext cx="11064240" cy="1600200"/>
          </a:xfrm>
          <a:prstGeom prst="roundRect">
            <a:avLst>
              <a:gd name="adj" fmla="val 4571"/>
            </a:avLst>
          </a:prstGeom>
          <a:solidFill>
            <a:srgbClr val="F0B429"/>
          </a:solidFill>
          <a:ln/>
        </p:spPr>
      </p:sp>
      <p:sp>
        <p:nvSpPr>
          <p:cNvPr id="13" name="Text 11"/>
          <p:cNvSpPr/>
          <p:nvPr/>
        </p:nvSpPr>
        <p:spPr>
          <a:xfrm>
            <a:off x="868680" y="4553712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kern="0" spc="200" dirty="0">
                <a:solidFill>
                  <a:srgbClr val="1E2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868680" y="4891387"/>
            <a:ext cx="104241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28000"/>
              </a:lnSpc>
              <a:buNone/>
            </a:pPr>
            <a:r>
              <a:rPr lang="en-US" sz="1450" b="1" dirty="0">
                <a:solidFill>
                  <a:srgbClr val="1E2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CrowdHeal demonstrates the core journey from sharing a medical need to tracking community support. </a:t>
            </a:r>
            <a:endParaRPr lang="en-US" sz="1450" dirty="0"/>
          </a:p>
        </p:txBody>
      </p:sp>
      <p:sp>
        <p:nvSpPr>
          <p:cNvPr id="15" name="Shape 13"/>
          <p:cNvSpPr/>
          <p:nvPr/>
        </p:nvSpPr>
        <p:spPr>
          <a:xfrm>
            <a:off x="457200" y="6473952"/>
            <a:ext cx="11277295" cy="0"/>
          </a:xfrm>
          <a:prstGeom prst="line">
            <a:avLst/>
          </a:prstGeom>
          <a:noFill/>
          <a:ln w="9525">
            <a:solidFill>
              <a:srgbClr val="DCE1E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7200" y="6528816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CrowdHeal — medical crowdfunding prototype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10728655" y="6528816"/>
            <a:ext cx="1005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B6B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10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23</TotalTime>
  <Words>718</Words>
  <Application>Microsoft Office PowerPoint</Application>
  <PresentationFormat>Widescreen</PresentationFormat>
  <Paragraphs>171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4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Akshay Reddy</cp:lastModifiedBy>
  <cp:revision>2</cp:revision>
  <dcterms:created xsi:type="dcterms:W3CDTF">2026-09-24T18:38:30Z</dcterms:created>
  <dcterms:modified xsi:type="dcterms:W3CDTF">2026-09-25T00:27:59Z</dcterms:modified>
</cp:coreProperties>
</file>